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6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9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11" name="Дата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" name="Shape 1117"/>
          <p:cNvSpPr>
            <a:spLocks noChangeArrowheads="1" noGrp="1"/>
          </p:cNvSpPr>
          <p:nvPr userDrawn="1"/>
        </p:nvSpPr>
        <p:spPr bwMode="auto">
          <a:xfrm>
            <a:off x="1045633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" name="Shape 1139"/>
          <p:cNvSpPr>
            <a:spLocks noChangeArrowheads="1" noGrp="1"/>
          </p:cNvSpPr>
          <p:nvPr userDrawn="1"/>
        </p:nvSpPr>
        <p:spPr bwMode="auto">
          <a:xfrm>
            <a:off x="1648463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4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" name="Shape 1143"/>
          <p:cNvSpPr>
            <a:spLocks noChangeArrowheads="1" noGrp="1"/>
          </p:cNvSpPr>
          <p:nvPr userDrawn="1"/>
        </p:nvSpPr>
        <p:spPr bwMode="auto">
          <a:xfrm>
            <a:off x="3596921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" name="Shape 1144"/>
          <p:cNvSpPr>
            <a:spLocks noChangeArrowheads="1" noGrp="1"/>
          </p:cNvSpPr>
          <p:nvPr userDrawn="1"/>
        </p:nvSpPr>
        <p:spPr bwMode="auto">
          <a:xfrm>
            <a:off x="3037843" y="5578670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Нейросетевая система сортировки пациентов на основе неструктурированных текстовых жалоб</a:t>
            </a:r>
            <a:endParaRPr lang="ru-RU"/>
          </a:p>
        </p:txBody>
      </p:sp>
      <p:sp>
        <p:nvSpPr>
          <p:cNvPr id="1410620215" name="Subtitle 2"/>
          <p:cNvSpPr>
            <a:spLocks noGrp="1"/>
          </p:cNvSpPr>
          <p:nvPr/>
        </p:nvSpPr>
        <p:spPr bwMode="auto">
          <a:xfrm flipH="0" flipV="0">
            <a:off x="8719373" y="2379307"/>
            <a:ext cx="3479269" cy="203358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>
            <a:lvl1pPr marL="171450" indent="-171450" algn="l" defTabSz="914400">
              <a:spcBef>
                <a:spcPts val="0"/>
              </a:spcBef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/>
              <a:buNone/>
              <a:defRPr/>
            </a:pPr>
            <a:r>
              <a:rPr lang="ru-RU"/>
              <a:t>Автор работы: </a:t>
            </a:r>
            <a:endParaRPr lang="ru-RU"/>
          </a:p>
          <a:p>
            <a:pPr marL="0" indent="0" algn="r">
              <a:buFont typeface="Arial"/>
              <a:buNone/>
              <a:defRPr/>
            </a:pPr>
            <a:r>
              <a:rPr lang="ru-RU"/>
              <a:t>Вишняков Ростислав Сергеевич</a:t>
            </a:r>
            <a:endParaRPr lang="ru-RU"/>
          </a:p>
          <a:p>
            <a:pPr marL="0" indent="0" algn="r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Студент ПИМУ медико-профилактического факультета 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r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203 группы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r">
              <a:buFont typeface="Arial"/>
              <a:buNone/>
              <a:defRPr/>
            </a:pPr>
            <a:r>
              <a:rPr lang="ru-RU"/>
              <a:t>Научный руководитель: </a:t>
            </a:r>
            <a:endParaRPr lang="ru-RU"/>
          </a:p>
          <a:p>
            <a:pPr marL="0" indent="0" algn="r">
              <a:buFont typeface="Arial"/>
              <a:buNone/>
              <a:defRPr/>
            </a:pPr>
            <a:r>
              <a:rPr lang="ru-RU"/>
              <a:t>Гончаров Виталий Викторович</a:t>
            </a:r>
            <a:endParaRPr lang="ru-RU"/>
          </a:p>
          <a:p>
            <a:pPr marL="0" indent="0" algn="r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доцент, кандидат химических наук</a:t>
            </a:r>
            <a:endParaRPr lang="ru-RU"/>
          </a:p>
        </p:txBody>
      </p:sp>
      <p:sp>
        <p:nvSpPr>
          <p:cNvPr id="1336789816" name=""/>
          <p:cNvSpPr txBox="1"/>
          <p:nvPr/>
        </p:nvSpPr>
        <p:spPr bwMode="auto">
          <a:xfrm flipH="0" flipV="0">
            <a:off x="4402080" y="6175872"/>
            <a:ext cx="338927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г. Нижний Новгород 2025 г.</a:t>
            </a:r>
            <a:endParaRPr/>
          </a:p>
        </p:txBody>
      </p:sp>
      <p:pic>
        <p:nvPicPr>
          <p:cNvPr id="81342439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415" y="-26456"/>
            <a:ext cx="3608498" cy="1641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62688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План</a:t>
            </a:r>
            <a:endParaRPr/>
          </a:p>
        </p:txBody>
      </p:sp>
      <p:sp>
        <p:nvSpPr>
          <p:cNvPr id="1317507216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438080" indent="-438080">
              <a:buFont typeface="Arial"/>
              <a:buAutoNum type="arabicPeriod"/>
              <a:defRPr/>
            </a:pPr>
            <a:r>
              <a:rPr/>
              <a:t>Актуальность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Цель исследования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Задачи исследования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Источники и данные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Техническая реализация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Архитектура нейросетевой модели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Алгоритм работы системы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Использование в медицинской практике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Преимущество подхода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 Перспективы развития</a:t>
            </a:r>
            <a:endParaRPr/>
          </a:p>
          <a:p>
            <a:pPr marL="438080" indent="-438080">
              <a:buFont typeface="Arial"/>
              <a:buAutoNum type="arabicPeriod"/>
              <a:defRPr/>
            </a:pPr>
            <a:r>
              <a:rPr/>
              <a:t>Заключение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9695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94097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	Современное здравоохранение сталкивается с постоянным ростом потока пациентов и увеличением нагрузки на медицинских специалистов. На этапе первичного обращения значительная часть информации о состоянии пациента представлена в виде неструктурированных текстовых жалоб, содержащих субъективные описания симптомов, разговорную лексику и неточности.</a:t>
            </a:r>
            <a:endParaRPr lang="ru-RU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	Ручная сортировка и маршрутизация пациентов требует значительных временных ресурсов и подвержена человеческому фактору. В условиях цифровизации медицины особую актуальность приобретает использование методов искусственного интеллекта, в частности нейросетевых моделей, способных автоматически анализировать текстовые данные и поддерживать принятие клинических решений.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Р7-Офис/2025.3.1.923</Application>
  <DocSecurity>0</DocSecurity>
  <PresentationFormat>Widescreen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EXPERIENCE IV</cp:lastModifiedBy>
  <cp:revision>6</cp:revision>
  <dcterms:modified xsi:type="dcterms:W3CDTF">2025-12-17T18:20:38Z</dcterms:modified>
  <cp:category/>
  <cp:contentStatus/>
  <cp:version/>
</cp:coreProperties>
</file>